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Poppins Bold" charset="1" panose="00000800000000000000"/>
      <p:regular r:id="rId18"/>
    </p:embeddedFont>
    <p:embeddedFont>
      <p:font typeface="Josefin Sans Bold" charset="1" panose="00000800000000000000"/>
      <p:regular r:id="rId19"/>
    </p:embeddedFont>
    <p:embeddedFont>
      <p:font typeface="Josefin Sans" charset="1" panose="00000500000000000000"/>
      <p:regular r:id="rId20"/>
    </p:embeddedFont>
    <p:embeddedFont>
      <p:font typeface="Poppin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18" Target="../media/image21.png" Type="http://schemas.openxmlformats.org/officeDocument/2006/relationships/image"/><Relationship Id="rId19" Target="../media/image22.svg" Type="http://schemas.openxmlformats.org/officeDocument/2006/relationships/image"/><Relationship Id="rId2" Target="../media/image5.png" Type="http://schemas.openxmlformats.org/officeDocument/2006/relationships/image"/><Relationship Id="rId20" Target="../media/image23.png" Type="http://schemas.openxmlformats.org/officeDocument/2006/relationships/image"/><Relationship Id="rId21" Target="../media/image24.sv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589C2">
                <a:alpha val="100000"/>
              </a:srgbClr>
            </a:gs>
            <a:gs pos="50000">
              <a:srgbClr val="3ABDD4">
                <a:alpha val="100000"/>
              </a:srgbClr>
            </a:gs>
            <a:gs pos="100000">
              <a:srgbClr val="93EFFF">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6463639" y="8692852"/>
            <a:ext cx="793472" cy="787812"/>
            <a:chOff x="0" y="0"/>
            <a:chExt cx="289003" cy="286941"/>
          </a:xfrm>
        </p:grpSpPr>
        <p:sp>
          <p:nvSpPr>
            <p:cNvPr name="Freeform 4" id="4"/>
            <p:cNvSpPr/>
            <p:nvPr/>
          </p:nvSpPr>
          <p:spPr>
            <a:xfrm flipH="false" flipV="false" rot="0">
              <a:off x="0" y="0"/>
              <a:ext cx="289003" cy="286941"/>
            </a:xfrm>
            <a:custGeom>
              <a:avLst/>
              <a:gdLst/>
              <a:ahLst/>
              <a:cxnLst/>
              <a:rect r="r" b="b" t="t" l="l"/>
              <a:pathLst>
                <a:path h="286941" w="289003">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sp>
        <p:sp>
          <p:nvSpPr>
            <p:cNvPr name="TextBox 5" id="5"/>
            <p:cNvSpPr txBox="true"/>
            <p:nvPr/>
          </p:nvSpPr>
          <p:spPr>
            <a:xfrm>
              <a:off x="0" y="-38100"/>
              <a:ext cx="289003" cy="32504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5400000">
            <a:off x="16735331" y="8904285"/>
            <a:ext cx="270061" cy="364947"/>
          </a:xfrm>
          <a:custGeom>
            <a:avLst/>
            <a:gdLst/>
            <a:ahLst/>
            <a:cxnLst/>
            <a:rect r="r" b="b" t="t" l="l"/>
            <a:pathLst>
              <a:path h="364947" w="270061">
                <a:moveTo>
                  <a:pt x="0" y="0"/>
                </a:moveTo>
                <a:lnTo>
                  <a:pt x="270061" y="0"/>
                </a:lnTo>
                <a:lnTo>
                  <a:pt x="270061" y="364947"/>
                </a:lnTo>
                <a:lnTo>
                  <a:pt x="0" y="3649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3736356" y="3834484"/>
            <a:ext cx="10815287" cy="2894257"/>
          </a:xfrm>
          <a:prstGeom prst="rect">
            <a:avLst/>
          </a:prstGeom>
        </p:spPr>
        <p:txBody>
          <a:bodyPr anchor="t" rtlCol="false" tIns="0" lIns="0" bIns="0" rIns="0">
            <a:spAutoFit/>
          </a:bodyPr>
          <a:lstStyle/>
          <a:p>
            <a:pPr algn="ctr">
              <a:lnSpc>
                <a:spcPts val="10462"/>
              </a:lnSpc>
            </a:pPr>
            <a:r>
              <a:rPr lang="en-US" sz="12166" b="true">
                <a:solidFill>
                  <a:srgbClr val="FFFFFF"/>
                </a:solidFill>
                <a:latin typeface="Poppins Bold"/>
                <a:ea typeface="Poppins Bold"/>
                <a:cs typeface="Poppins Bold"/>
                <a:sym typeface="Poppins Bold"/>
              </a:rPr>
              <a:t>Employee</a:t>
            </a:r>
          </a:p>
          <a:p>
            <a:pPr algn="ctr">
              <a:lnSpc>
                <a:spcPts val="10462"/>
              </a:lnSpc>
            </a:pPr>
            <a:r>
              <a:rPr lang="en-US" sz="12166" b="true">
                <a:solidFill>
                  <a:srgbClr val="FFFFFF"/>
                </a:solidFill>
                <a:latin typeface="Poppins Bold"/>
                <a:ea typeface="Poppins Bold"/>
                <a:cs typeface="Poppins Bold"/>
                <a:sym typeface="Poppins Bold"/>
              </a:rPr>
              <a:t>Management</a:t>
            </a:r>
          </a:p>
        </p:txBody>
      </p:sp>
      <p:sp>
        <p:nvSpPr>
          <p:cNvPr name="TextBox 8" id="8"/>
          <p:cNvSpPr txBox="true"/>
          <p:nvPr/>
        </p:nvSpPr>
        <p:spPr>
          <a:xfrm rot="0">
            <a:off x="1687743" y="711008"/>
            <a:ext cx="3366162" cy="862349"/>
          </a:xfrm>
          <a:prstGeom prst="rect">
            <a:avLst/>
          </a:prstGeom>
        </p:spPr>
        <p:txBody>
          <a:bodyPr anchor="t" rtlCol="false" tIns="0" lIns="0" bIns="0" rIns="0">
            <a:spAutoFit/>
          </a:bodyPr>
          <a:lstStyle/>
          <a:p>
            <a:pPr algn="l">
              <a:lnSpc>
                <a:spcPts val="3393"/>
              </a:lnSpc>
            </a:pPr>
            <a:r>
              <a:rPr lang="en-US" sz="2424" b="true">
                <a:solidFill>
                  <a:srgbClr val="FFFFFF"/>
                </a:solidFill>
                <a:latin typeface="Poppins Bold"/>
                <a:ea typeface="Poppins Bold"/>
                <a:cs typeface="Poppins Bold"/>
                <a:sym typeface="Poppins Bold"/>
              </a:rPr>
              <a:t>KnurtD’s system</a:t>
            </a:r>
          </a:p>
          <a:p>
            <a:pPr algn="l">
              <a:lnSpc>
                <a:spcPts val="3393"/>
              </a:lnSpc>
            </a:pPr>
          </a:p>
        </p:txBody>
      </p:sp>
      <p:sp>
        <p:nvSpPr>
          <p:cNvPr name="TextBox 9" id="9"/>
          <p:cNvSpPr txBox="true"/>
          <p:nvPr/>
        </p:nvSpPr>
        <p:spPr>
          <a:xfrm rot="0">
            <a:off x="6874453" y="824766"/>
            <a:ext cx="1750921"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0C8EB6"/>
                </a:solidFill>
                <a:latin typeface="Poppins Bold"/>
                <a:ea typeface="Poppins Bold"/>
                <a:cs typeface="Poppins Bold"/>
                <a:sym typeface="Poppins Bold"/>
              </a:rPr>
              <a:t>DASHBOARD</a:t>
            </a:r>
          </a:p>
        </p:txBody>
      </p:sp>
      <p:sp>
        <p:nvSpPr>
          <p:cNvPr name="TextBox 10" id="10"/>
          <p:cNvSpPr txBox="true"/>
          <p:nvPr/>
        </p:nvSpPr>
        <p:spPr>
          <a:xfrm rot="0">
            <a:off x="9328935" y="828704"/>
            <a:ext cx="1512319"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FFFFFF"/>
                </a:solidFill>
                <a:latin typeface="Poppins Bold"/>
                <a:ea typeface="Poppins Bold"/>
                <a:cs typeface="Poppins Bold"/>
                <a:sym typeface="Poppins Bold"/>
              </a:rPr>
              <a:t>NHÂN VIÊN</a:t>
            </a:r>
          </a:p>
        </p:txBody>
      </p:sp>
      <p:sp>
        <p:nvSpPr>
          <p:cNvPr name="TextBox 11" id="11"/>
          <p:cNvSpPr txBox="true"/>
          <p:nvPr/>
        </p:nvSpPr>
        <p:spPr>
          <a:xfrm rot="0">
            <a:off x="11296318" y="828704"/>
            <a:ext cx="1442767"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FFFFFF"/>
                </a:solidFill>
                <a:latin typeface="Poppins Bold"/>
                <a:ea typeface="Poppins Bold"/>
                <a:cs typeface="Poppins Bold"/>
                <a:sym typeface="Poppins Bold"/>
              </a:rPr>
              <a:t>TỔ CHỨC</a:t>
            </a:r>
          </a:p>
        </p:txBody>
      </p:sp>
      <p:sp>
        <p:nvSpPr>
          <p:cNvPr name="TextBox 12" id="12"/>
          <p:cNvSpPr txBox="true"/>
          <p:nvPr/>
        </p:nvSpPr>
        <p:spPr>
          <a:xfrm rot="0">
            <a:off x="12915247" y="828704"/>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HỢP ĐỒNG</a:t>
            </a:r>
          </a:p>
        </p:txBody>
      </p:sp>
      <p:sp>
        <p:nvSpPr>
          <p:cNvPr name="TextBox 13" id="13"/>
          <p:cNvSpPr txBox="true"/>
          <p:nvPr/>
        </p:nvSpPr>
        <p:spPr>
          <a:xfrm rot="0">
            <a:off x="14406223" y="824766"/>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TÀI LIỆU</a:t>
            </a:r>
          </a:p>
        </p:txBody>
      </p:sp>
      <p:sp>
        <p:nvSpPr>
          <p:cNvPr name="TextBox 14" id="14"/>
          <p:cNvSpPr txBox="true"/>
          <p:nvPr/>
        </p:nvSpPr>
        <p:spPr>
          <a:xfrm rot="0">
            <a:off x="16170631" y="824766"/>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QUẢN LÝ</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4994246" y="2316075"/>
            <a:ext cx="7907732" cy="990578"/>
          </a:xfrm>
          <a:prstGeom prst="rect">
            <a:avLst/>
          </a:prstGeom>
        </p:spPr>
        <p:txBody>
          <a:bodyPr anchor="t" rtlCol="false" tIns="0" lIns="0" bIns="0" rIns="0">
            <a:spAutoFit/>
          </a:bodyPr>
          <a:lstStyle/>
          <a:p>
            <a:pPr algn="l">
              <a:lnSpc>
                <a:spcPts val="7680"/>
              </a:lnSpc>
            </a:pPr>
            <a:r>
              <a:rPr lang="en-US" sz="6400" b="true">
                <a:solidFill>
                  <a:srgbClr val="2B4B82"/>
                </a:solidFill>
                <a:latin typeface="Josefin Sans Bold"/>
                <a:ea typeface="Josefin Sans Bold"/>
                <a:cs typeface="Josefin Sans Bold"/>
                <a:sym typeface="Josefin Sans Bold"/>
              </a:rPr>
              <a:t>     TỔNG QUAN</a:t>
            </a:r>
          </a:p>
        </p:txBody>
      </p:sp>
      <p:sp>
        <p:nvSpPr>
          <p:cNvPr name="TextBox 3" id="3"/>
          <p:cNvSpPr txBox="true"/>
          <p:nvPr/>
        </p:nvSpPr>
        <p:spPr>
          <a:xfrm rot="0">
            <a:off x="4994246" y="4721050"/>
            <a:ext cx="7907732" cy="3366503"/>
          </a:xfrm>
          <a:prstGeom prst="rect">
            <a:avLst/>
          </a:prstGeom>
        </p:spPr>
        <p:txBody>
          <a:bodyPr anchor="t" rtlCol="false" tIns="0" lIns="0" bIns="0" rIns="0">
            <a:spAutoFit/>
          </a:bodyPr>
          <a:lstStyle/>
          <a:p>
            <a:pPr algn="l">
              <a:lnSpc>
                <a:spcPts val="4479"/>
              </a:lnSpc>
            </a:pPr>
            <a:r>
              <a:rPr lang="en-US" sz="3199">
                <a:solidFill>
                  <a:srgbClr val="2B4B82"/>
                </a:solidFill>
                <a:latin typeface="Josefin Sans"/>
                <a:ea typeface="Josefin Sans"/>
                <a:cs typeface="Josefin Sans"/>
                <a:sym typeface="Josefin Sans"/>
              </a:rPr>
              <a:t>Mục tiêu của phần mềm Quản Lý Nhân Sự là xây dựng một hệ thống JavaFX kết hợp MySQL theo mô hình MVC, hỗ trợ quản trị toàn bộ vòng đời nhân viên, bảo mật dữ liệu, phân quyền truy cập, và cung cấp giao diện trực quan, dễ thao tác.</a:t>
            </a:r>
          </a:p>
        </p:txBody>
      </p:sp>
      <p:sp>
        <p:nvSpPr>
          <p:cNvPr name="Freeform 4" id="4"/>
          <p:cNvSpPr/>
          <p:nvPr/>
        </p:nvSpPr>
        <p:spPr>
          <a:xfrm flipH="false" flipV="false" rot="0">
            <a:off x="0" y="-963412"/>
            <a:ext cx="4597438" cy="2842053"/>
          </a:xfrm>
          <a:custGeom>
            <a:avLst/>
            <a:gdLst/>
            <a:ahLst/>
            <a:cxnLst/>
            <a:rect r="r" b="b" t="t" l="l"/>
            <a:pathLst>
              <a:path h="2842053" w="4597438">
                <a:moveTo>
                  <a:pt x="0" y="0"/>
                </a:moveTo>
                <a:lnTo>
                  <a:pt x="4597438" y="0"/>
                </a:lnTo>
                <a:lnTo>
                  <a:pt x="4597438" y="2842052"/>
                </a:lnTo>
                <a:lnTo>
                  <a:pt x="0" y="28420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0551837" y="390596"/>
            <a:ext cx="2076668" cy="1276207"/>
          </a:xfrm>
          <a:custGeom>
            <a:avLst/>
            <a:gdLst/>
            <a:ahLst/>
            <a:cxnLst/>
            <a:rect r="r" b="b" t="t" l="l"/>
            <a:pathLst>
              <a:path h="1276207" w="2076668">
                <a:moveTo>
                  <a:pt x="2076668" y="0"/>
                </a:moveTo>
                <a:lnTo>
                  <a:pt x="0" y="0"/>
                </a:lnTo>
                <a:lnTo>
                  <a:pt x="0" y="1276208"/>
                </a:lnTo>
                <a:lnTo>
                  <a:pt x="2076668" y="1276208"/>
                </a:lnTo>
                <a:lnTo>
                  <a:pt x="20766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138681" y="-2447996"/>
            <a:ext cx="3837986" cy="4114800"/>
          </a:xfrm>
          <a:custGeom>
            <a:avLst/>
            <a:gdLst/>
            <a:ahLst/>
            <a:cxnLst/>
            <a:rect r="r" b="b" t="t" l="l"/>
            <a:pathLst>
              <a:path h="4114800" w="3837986">
                <a:moveTo>
                  <a:pt x="0" y="0"/>
                </a:moveTo>
                <a:lnTo>
                  <a:pt x="3837987" y="0"/>
                </a:lnTo>
                <a:lnTo>
                  <a:pt x="383798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994246" y="-3759204"/>
            <a:ext cx="5357753" cy="5591583"/>
          </a:xfrm>
          <a:custGeom>
            <a:avLst/>
            <a:gdLst/>
            <a:ahLst/>
            <a:cxnLst/>
            <a:rect r="r" b="b" t="t" l="l"/>
            <a:pathLst>
              <a:path h="5591583" w="5357753">
                <a:moveTo>
                  <a:pt x="0" y="0"/>
                </a:moveTo>
                <a:lnTo>
                  <a:pt x="5357752" y="0"/>
                </a:lnTo>
                <a:lnTo>
                  <a:pt x="5357752" y="5591583"/>
                </a:lnTo>
                <a:lnTo>
                  <a:pt x="0" y="5591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994246" y="3751069"/>
            <a:ext cx="735147" cy="661632"/>
          </a:xfrm>
          <a:custGeom>
            <a:avLst/>
            <a:gdLst/>
            <a:ahLst/>
            <a:cxnLst/>
            <a:rect r="r" b="b" t="t" l="l"/>
            <a:pathLst>
              <a:path h="661632" w="735147">
                <a:moveTo>
                  <a:pt x="0" y="0"/>
                </a:moveTo>
                <a:lnTo>
                  <a:pt x="735146" y="0"/>
                </a:lnTo>
                <a:lnTo>
                  <a:pt x="735146" y="661632"/>
                </a:lnTo>
                <a:lnTo>
                  <a:pt x="0" y="66163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6523455" y="3783882"/>
            <a:ext cx="579752" cy="596007"/>
          </a:xfrm>
          <a:custGeom>
            <a:avLst/>
            <a:gdLst/>
            <a:ahLst/>
            <a:cxnLst/>
            <a:rect r="r" b="b" t="t" l="l"/>
            <a:pathLst>
              <a:path h="596007" w="579752">
                <a:moveTo>
                  <a:pt x="0" y="0"/>
                </a:moveTo>
                <a:lnTo>
                  <a:pt x="579753" y="0"/>
                </a:lnTo>
                <a:lnTo>
                  <a:pt x="579753" y="596007"/>
                </a:lnTo>
                <a:lnTo>
                  <a:pt x="0" y="5960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7929958" y="3783882"/>
            <a:ext cx="615017" cy="596007"/>
          </a:xfrm>
          <a:custGeom>
            <a:avLst/>
            <a:gdLst/>
            <a:ahLst/>
            <a:cxnLst/>
            <a:rect r="r" b="b" t="t" l="l"/>
            <a:pathLst>
              <a:path h="596007" w="615017">
                <a:moveTo>
                  <a:pt x="0" y="0"/>
                </a:moveTo>
                <a:lnTo>
                  <a:pt x="615016" y="0"/>
                </a:lnTo>
                <a:lnTo>
                  <a:pt x="615016" y="596007"/>
                </a:lnTo>
                <a:lnTo>
                  <a:pt x="0" y="59600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10852384" y="3751069"/>
            <a:ext cx="670161" cy="661632"/>
          </a:xfrm>
          <a:custGeom>
            <a:avLst/>
            <a:gdLst/>
            <a:ahLst/>
            <a:cxnLst/>
            <a:rect r="r" b="b" t="t" l="l"/>
            <a:pathLst>
              <a:path h="661632" w="670161">
                <a:moveTo>
                  <a:pt x="0" y="0"/>
                </a:moveTo>
                <a:lnTo>
                  <a:pt x="670162" y="0"/>
                </a:lnTo>
                <a:lnTo>
                  <a:pt x="670162" y="661632"/>
                </a:lnTo>
                <a:lnTo>
                  <a:pt x="0" y="66163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9467212" y="3751069"/>
            <a:ext cx="495622" cy="661632"/>
          </a:xfrm>
          <a:custGeom>
            <a:avLst/>
            <a:gdLst/>
            <a:ahLst/>
            <a:cxnLst/>
            <a:rect r="r" b="b" t="t" l="l"/>
            <a:pathLst>
              <a:path h="661632" w="495622">
                <a:moveTo>
                  <a:pt x="0" y="0"/>
                </a:moveTo>
                <a:lnTo>
                  <a:pt x="495622" y="0"/>
                </a:lnTo>
                <a:lnTo>
                  <a:pt x="495622" y="661632"/>
                </a:lnTo>
                <a:lnTo>
                  <a:pt x="0" y="66163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3" id="13"/>
          <p:cNvSpPr/>
          <p:nvPr/>
        </p:nvSpPr>
        <p:spPr>
          <a:xfrm flipH="false" flipV="false" rot="0">
            <a:off x="12427552" y="3751069"/>
            <a:ext cx="434271" cy="661632"/>
          </a:xfrm>
          <a:custGeom>
            <a:avLst/>
            <a:gdLst/>
            <a:ahLst/>
            <a:cxnLst/>
            <a:rect r="r" b="b" t="t" l="l"/>
            <a:pathLst>
              <a:path h="661632" w="434271">
                <a:moveTo>
                  <a:pt x="0" y="0"/>
                </a:moveTo>
                <a:lnTo>
                  <a:pt x="434271" y="0"/>
                </a:lnTo>
                <a:lnTo>
                  <a:pt x="434271" y="661632"/>
                </a:lnTo>
                <a:lnTo>
                  <a:pt x="0" y="66163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743" y="2072894"/>
            <a:ext cx="237613" cy="922004"/>
            <a:chOff x="0" y="0"/>
            <a:chExt cx="62581" cy="242832"/>
          </a:xfrm>
        </p:grpSpPr>
        <p:sp>
          <p:nvSpPr>
            <p:cNvPr name="Freeform 3" id="3"/>
            <p:cNvSpPr/>
            <p:nvPr/>
          </p:nvSpPr>
          <p:spPr>
            <a:xfrm flipH="false" flipV="false" rot="0">
              <a:off x="0" y="0"/>
              <a:ext cx="62581" cy="242832"/>
            </a:xfrm>
            <a:custGeom>
              <a:avLst/>
              <a:gdLst/>
              <a:ahLst/>
              <a:cxnLst/>
              <a:rect r="r" b="b" t="t" l="l"/>
              <a:pathLst>
                <a:path h="242832" w="62581">
                  <a:moveTo>
                    <a:pt x="31291" y="0"/>
                  </a:moveTo>
                  <a:lnTo>
                    <a:pt x="31291" y="0"/>
                  </a:lnTo>
                  <a:cubicBezTo>
                    <a:pt x="39589" y="0"/>
                    <a:pt x="47548" y="3297"/>
                    <a:pt x="53416" y="9165"/>
                  </a:cubicBezTo>
                  <a:cubicBezTo>
                    <a:pt x="59285" y="15033"/>
                    <a:pt x="62581" y="22992"/>
                    <a:pt x="62581" y="31291"/>
                  </a:cubicBezTo>
                  <a:lnTo>
                    <a:pt x="62581" y="211542"/>
                  </a:lnTo>
                  <a:cubicBezTo>
                    <a:pt x="62581" y="228823"/>
                    <a:pt x="48572" y="242832"/>
                    <a:pt x="31291" y="242832"/>
                  </a:cubicBezTo>
                  <a:lnTo>
                    <a:pt x="31291" y="242832"/>
                  </a:lnTo>
                  <a:cubicBezTo>
                    <a:pt x="14009" y="242832"/>
                    <a:pt x="0" y="228823"/>
                    <a:pt x="0" y="211542"/>
                  </a:cubicBezTo>
                  <a:lnTo>
                    <a:pt x="0" y="31291"/>
                  </a:lnTo>
                  <a:cubicBezTo>
                    <a:pt x="0" y="14009"/>
                    <a:pt x="14009" y="0"/>
                    <a:pt x="31291" y="0"/>
                  </a:cubicBezTo>
                  <a:close/>
                </a:path>
              </a:pathLst>
            </a:custGeom>
            <a:gradFill rotWithShape="true">
              <a:gsLst>
                <a:gs pos="0">
                  <a:srgbClr val="0589C2">
                    <a:alpha val="100000"/>
                  </a:srgbClr>
                </a:gs>
                <a:gs pos="50000">
                  <a:srgbClr val="3ABDD4">
                    <a:alpha val="100000"/>
                  </a:srgbClr>
                </a:gs>
                <a:gs pos="100000">
                  <a:srgbClr val="93EFFF">
                    <a:alpha val="100000"/>
                  </a:srgbClr>
                </a:gs>
              </a:gsLst>
              <a:path path="circle">
                <a:fillToRect l="0" r="100000" t="0" b="100000"/>
              </a:path>
              <a:tileRect r="0" l="-100000" b="0" t="-100000"/>
            </a:gradFill>
          </p:spPr>
        </p:sp>
        <p:sp>
          <p:nvSpPr>
            <p:cNvPr name="TextBox 4" id="4"/>
            <p:cNvSpPr txBox="true"/>
            <p:nvPr/>
          </p:nvSpPr>
          <p:spPr>
            <a:xfrm>
              <a:off x="0" y="-38100"/>
              <a:ext cx="62581" cy="28093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150765" y="2024319"/>
            <a:ext cx="7168598" cy="970578"/>
          </a:xfrm>
          <a:prstGeom prst="rect">
            <a:avLst/>
          </a:prstGeom>
        </p:spPr>
        <p:txBody>
          <a:bodyPr anchor="t" rtlCol="false" tIns="0" lIns="0" bIns="0" rIns="0">
            <a:spAutoFit/>
          </a:bodyPr>
          <a:lstStyle/>
          <a:p>
            <a:pPr algn="l">
              <a:lnSpc>
                <a:spcPts val="6919"/>
              </a:lnSpc>
            </a:pPr>
            <a:r>
              <a:rPr lang="en-US" sz="6528" b="true">
                <a:solidFill>
                  <a:srgbClr val="0C8EB6"/>
                </a:solidFill>
                <a:latin typeface="Poppins Bold"/>
                <a:ea typeface="Poppins Bold"/>
                <a:cs typeface="Poppins Bold"/>
                <a:sym typeface="Poppins Bold"/>
              </a:rPr>
              <a:t>CHỨC NĂNG</a:t>
            </a:r>
          </a:p>
        </p:txBody>
      </p:sp>
      <p:sp>
        <p:nvSpPr>
          <p:cNvPr name="TextBox 7" id="7"/>
          <p:cNvSpPr txBox="true"/>
          <p:nvPr/>
        </p:nvSpPr>
        <p:spPr>
          <a:xfrm rot="0">
            <a:off x="1028700" y="3555533"/>
            <a:ext cx="16162468" cy="5885899"/>
          </a:xfrm>
          <a:prstGeom prst="rect">
            <a:avLst/>
          </a:prstGeom>
        </p:spPr>
        <p:txBody>
          <a:bodyPr anchor="t" rtlCol="false" tIns="0" lIns="0" bIns="0" rIns="0">
            <a:spAutoFit/>
          </a:bodyPr>
          <a:lstStyle/>
          <a:p>
            <a:pPr algn="just" marL="656536" indent="-328268" lvl="1">
              <a:lnSpc>
                <a:spcPts val="4257"/>
              </a:lnSpc>
              <a:buFont typeface="Arial"/>
              <a:buChar char="•"/>
            </a:pPr>
            <a:r>
              <a:rPr lang="en-US" sz="3040">
                <a:solidFill>
                  <a:srgbClr val="0C8EB6"/>
                </a:solidFill>
                <a:latin typeface="Poppins"/>
                <a:ea typeface="Poppins"/>
                <a:cs typeface="Poppins"/>
                <a:sym typeface="Poppins"/>
              </a:rPr>
              <a:t>Đăng nhập &amp; Phân quyền: Xác thực tài khoản, phân quyền theo vai trò (Admin, HR, Dept).</a:t>
            </a:r>
          </a:p>
          <a:p>
            <a:pPr algn="just" marL="656536" indent="-328268" lvl="1">
              <a:lnSpc>
                <a:spcPts val="4257"/>
              </a:lnSpc>
              <a:buFont typeface="Arial"/>
              <a:buChar char="•"/>
            </a:pPr>
            <a:r>
              <a:rPr lang="en-US" sz="3040">
                <a:solidFill>
                  <a:srgbClr val="0C8EB6"/>
                </a:solidFill>
                <a:latin typeface="Poppins"/>
                <a:ea typeface="Poppins"/>
                <a:cs typeface="Poppins"/>
                <a:sym typeface="Poppins"/>
              </a:rPr>
              <a:t>Quản lý Nhân viên: Thêm, sửa, xóa, tìm kiếm, xem danh sách nhân viên.</a:t>
            </a:r>
          </a:p>
          <a:p>
            <a:pPr algn="just" marL="656536" indent="-328268" lvl="1">
              <a:lnSpc>
                <a:spcPts val="4257"/>
              </a:lnSpc>
              <a:buFont typeface="Arial"/>
              <a:buChar char="•"/>
            </a:pPr>
            <a:r>
              <a:rPr lang="en-US" sz="3040">
                <a:solidFill>
                  <a:srgbClr val="0C8EB6"/>
                </a:solidFill>
                <a:latin typeface="Poppins"/>
                <a:ea typeface="Poppins"/>
                <a:cs typeface="Poppins"/>
                <a:sym typeface="Poppins"/>
              </a:rPr>
              <a:t>Quản lý Phòng ban: Thêm, sửa, xem danh sách phòng ban và nhân viên thuộc phòng.</a:t>
            </a:r>
          </a:p>
          <a:p>
            <a:pPr algn="just" marL="656536" indent="-328268" lvl="1">
              <a:lnSpc>
                <a:spcPts val="4257"/>
              </a:lnSpc>
              <a:buFont typeface="Arial"/>
              <a:buChar char="•"/>
            </a:pPr>
            <a:r>
              <a:rPr lang="en-US" sz="3040">
                <a:solidFill>
                  <a:srgbClr val="0C8EB6"/>
                </a:solidFill>
                <a:latin typeface="Poppins"/>
                <a:ea typeface="Poppins"/>
                <a:cs typeface="Poppins"/>
                <a:sym typeface="Poppins"/>
              </a:rPr>
              <a:t>Quản lý Hợp đồng (Admin, HR): Thêm, sửa, xóa, tìm kiếm, lọc, thống kê hợp đồng theo loại/trạng thái.</a:t>
            </a:r>
          </a:p>
          <a:p>
            <a:pPr algn="just" marL="656536" indent="-328268" lvl="1">
              <a:lnSpc>
                <a:spcPts val="4257"/>
              </a:lnSpc>
              <a:buFont typeface="Arial"/>
              <a:buChar char="•"/>
            </a:pPr>
            <a:r>
              <a:rPr lang="en-US" sz="3040">
                <a:solidFill>
                  <a:srgbClr val="0C8EB6"/>
                </a:solidFill>
                <a:latin typeface="Poppins"/>
                <a:ea typeface="Poppins"/>
                <a:cs typeface="Poppins"/>
                <a:sym typeface="Poppins"/>
              </a:rPr>
              <a:t>Quản lý Tài liệu: Thêm, sửa, xóa, tải về, tìm kiếm, phân loại tài liệu theo danh mục.</a:t>
            </a:r>
          </a:p>
          <a:p>
            <a:pPr algn="just" marL="656536" indent="-328268" lvl="1">
              <a:lnSpc>
                <a:spcPts val="4257"/>
              </a:lnSpc>
              <a:buFont typeface="Arial"/>
              <a:buChar char="•"/>
            </a:pPr>
            <a:r>
              <a:rPr lang="en-US" sz="3040">
                <a:solidFill>
                  <a:srgbClr val="0C8EB6"/>
                </a:solidFill>
                <a:latin typeface="Poppins"/>
                <a:ea typeface="Poppins"/>
                <a:cs typeface="Poppins"/>
                <a:sym typeface="Poppins"/>
              </a:rPr>
              <a:t>Quản lý Tài khoản (Admin): Thêm, sửa vai trò, xóa tài khoản khác (không xóa tài khoản đang dùng).</a:t>
            </a:r>
          </a:p>
          <a:p>
            <a:pPr algn="just">
              <a:lnSpc>
                <a:spcPts val="4257"/>
              </a:lnSpc>
            </a:pPr>
          </a:p>
        </p:txBody>
      </p:sp>
      <p:sp>
        <p:nvSpPr>
          <p:cNvPr name="TextBox 8" id="8"/>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585736" y="1028700"/>
            <a:ext cx="12264971" cy="9030085"/>
          </a:xfrm>
          <a:custGeom>
            <a:avLst/>
            <a:gdLst/>
            <a:ahLst/>
            <a:cxnLst/>
            <a:rect r="r" b="b" t="t" l="l"/>
            <a:pathLst>
              <a:path h="9030085" w="12264971">
                <a:moveTo>
                  <a:pt x="0" y="0"/>
                </a:moveTo>
                <a:lnTo>
                  <a:pt x="12264971" y="0"/>
                </a:lnTo>
                <a:lnTo>
                  <a:pt x="12264971" y="9030085"/>
                </a:lnTo>
                <a:lnTo>
                  <a:pt x="0" y="9030085"/>
                </a:lnTo>
                <a:lnTo>
                  <a:pt x="0" y="0"/>
                </a:lnTo>
                <a:close/>
              </a:path>
            </a:pathLst>
          </a:custGeom>
          <a:blipFill>
            <a:blip r:embed="rId4"/>
            <a:stretch>
              <a:fillRect l="0" t="0" r="0" b="0"/>
            </a:stretch>
          </a:blipFill>
        </p:spPr>
      </p:sp>
      <p:sp>
        <p:nvSpPr>
          <p:cNvPr name="TextBox 4" id="4"/>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FFFFFF"/>
                </a:solidFill>
                <a:latin typeface="Poppins Bold"/>
                <a:ea typeface="Poppins Bold"/>
                <a:cs typeface="Poppins Bold"/>
                <a:sym typeface="Poppins Bold"/>
              </a:rPr>
              <a:t>Thynk Unlimited</a:t>
            </a:r>
          </a:p>
        </p:txBody>
      </p:sp>
      <p:sp>
        <p:nvSpPr>
          <p:cNvPr name="TextBox 5" id="5"/>
          <p:cNvSpPr txBox="true"/>
          <p:nvPr/>
        </p:nvSpPr>
        <p:spPr>
          <a:xfrm rot="0">
            <a:off x="2494179" y="942975"/>
            <a:ext cx="2183114" cy="1048861"/>
          </a:xfrm>
          <a:prstGeom prst="rect">
            <a:avLst/>
          </a:prstGeom>
        </p:spPr>
        <p:txBody>
          <a:bodyPr anchor="t" rtlCol="false" tIns="0" lIns="0" bIns="0" rIns="0">
            <a:spAutoFit/>
          </a:bodyPr>
          <a:lstStyle/>
          <a:p>
            <a:pPr algn="ctr" marL="0" indent="0" lvl="0">
              <a:lnSpc>
                <a:spcPts val="4117"/>
              </a:lnSpc>
              <a:spcBef>
                <a:spcPct val="0"/>
              </a:spcBef>
            </a:pPr>
            <a:r>
              <a:rPr lang="en-US" b="true" sz="2941">
                <a:solidFill>
                  <a:srgbClr val="FFFFFF"/>
                </a:solidFill>
                <a:latin typeface="Poppins Bold"/>
                <a:ea typeface="Poppins Bold"/>
                <a:cs typeface="Poppins Bold"/>
                <a:sym typeface="Poppins Bold"/>
              </a:rPr>
              <a:t>THIẾT KẾ HỆ THỐNG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10930" y="0"/>
            <a:ext cx="9445097" cy="10287000"/>
            <a:chOff x="0" y="0"/>
            <a:chExt cx="2487598" cy="2709333"/>
          </a:xfrm>
        </p:grpSpPr>
        <p:sp>
          <p:nvSpPr>
            <p:cNvPr name="Freeform 3" id="3"/>
            <p:cNvSpPr/>
            <p:nvPr/>
          </p:nvSpPr>
          <p:spPr>
            <a:xfrm flipH="false" flipV="false" rot="0">
              <a:off x="0" y="0"/>
              <a:ext cx="2487598" cy="2709333"/>
            </a:xfrm>
            <a:custGeom>
              <a:avLst/>
              <a:gdLst/>
              <a:ahLst/>
              <a:cxnLst/>
              <a:rect r="r" b="b" t="t" l="l"/>
              <a:pathLst>
                <a:path h="2709333" w="2487598">
                  <a:moveTo>
                    <a:pt x="81968" y="0"/>
                  </a:moveTo>
                  <a:lnTo>
                    <a:pt x="2405630" y="0"/>
                  </a:lnTo>
                  <a:cubicBezTo>
                    <a:pt x="2450899" y="0"/>
                    <a:pt x="2487598" y="36698"/>
                    <a:pt x="2487598" y="81968"/>
                  </a:cubicBezTo>
                  <a:lnTo>
                    <a:pt x="2487598" y="2627366"/>
                  </a:lnTo>
                  <a:cubicBezTo>
                    <a:pt x="2487598" y="2649105"/>
                    <a:pt x="2478962" y="2669954"/>
                    <a:pt x="2463590" y="2685325"/>
                  </a:cubicBezTo>
                  <a:cubicBezTo>
                    <a:pt x="2448218" y="2700697"/>
                    <a:pt x="2427369" y="2709333"/>
                    <a:pt x="2405630" y="2709333"/>
                  </a:cubicBezTo>
                  <a:lnTo>
                    <a:pt x="81968" y="2709333"/>
                  </a:lnTo>
                  <a:cubicBezTo>
                    <a:pt x="36698" y="2709333"/>
                    <a:pt x="0" y="2672635"/>
                    <a:pt x="0" y="2627366"/>
                  </a:cubicBezTo>
                  <a:lnTo>
                    <a:pt x="0" y="81968"/>
                  </a:lnTo>
                  <a:cubicBezTo>
                    <a:pt x="0" y="60228"/>
                    <a:pt x="8636" y="39380"/>
                    <a:pt x="24008" y="24008"/>
                  </a:cubicBezTo>
                  <a:cubicBezTo>
                    <a:pt x="39380" y="8636"/>
                    <a:pt x="60228" y="0"/>
                    <a:pt x="81968" y="0"/>
                  </a:cubicBezTo>
                  <a:close/>
                </a:path>
              </a:pathLst>
            </a:custGeom>
            <a:gradFill rotWithShape="true">
              <a:gsLst>
                <a:gs pos="0">
                  <a:srgbClr val="0589C2">
                    <a:alpha val="100000"/>
                  </a:srgbClr>
                </a:gs>
                <a:gs pos="50000">
                  <a:srgbClr val="3ABDD4">
                    <a:alpha val="100000"/>
                  </a:srgbClr>
                </a:gs>
                <a:gs pos="100000">
                  <a:srgbClr val="93EFFF">
                    <a:alpha val="100000"/>
                  </a:srgbClr>
                </a:gs>
              </a:gsLst>
              <a:path path="circle">
                <a:fillToRect l="0" r="100000" t="0" b="100000"/>
              </a:path>
              <a:tileRect r="0" l="-100000" b="0" t="-100000"/>
            </a:gradFill>
          </p:spPr>
        </p:sp>
        <p:sp>
          <p:nvSpPr>
            <p:cNvPr name="TextBox 4" id="4"/>
            <p:cNvSpPr txBox="true"/>
            <p:nvPr/>
          </p:nvSpPr>
          <p:spPr>
            <a:xfrm>
              <a:off x="0" y="-38100"/>
              <a:ext cx="2487598"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273931" y="1989015"/>
            <a:ext cx="7437514" cy="6996029"/>
            <a:chOff x="0" y="0"/>
            <a:chExt cx="887295" cy="834626"/>
          </a:xfrm>
        </p:grpSpPr>
        <p:sp>
          <p:nvSpPr>
            <p:cNvPr name="Freeform 6" id="6"/>
            <p:cNvSpPr/>
            <p:nvPr/>
          </p:nvSpPr>
          <p:spPr>
            <a:xfrm flipH="false" flipV="false" rot="0">
              <a:off x="0" y="0"/>
              <a:ext cx="887295" cy="834626"/>
            </a:xfrm>
            <a:custGeom>
              <a:avLst/>
              <a:gdLst/>
              <a:ahLst/>
              <a:cxnLst/>
              <a:rect r="r" b="b" t="t" l="l"/>
              <a:pathLst>
                <a:path h="834626" w="887295">
                  <a:moveTo>
                    <a:pt x="82233" y="0"/>
                  </a:moveTo>
                  <a:lnTo>
                    <a:pt x="805062" y="0"/>
                  </a:lnTo>
                  <a:cubicBezTo>
                    <a:pt x="850478" y="0"/>
                    <a:pt x="887295" y="36817"/>
                    <a:pt x="887295" y="82233"/>
                  </a:cubicBezTo>
                  <a:lnTo>
                    <a:pt x="887295" y="752393"/>
                  </a:lnTo>
                  <a:cubicBezTo>
                    <a:pt x="887295" y="774202"/>
                    <a:pt x="878631" y="795119"/>
                    <a:pt x="863209" y="810540"/>
                  </a:cubicBezTo>
                  <a:cubicBezTo>
                    <a:pt x="847788" y="825962"/>
                    <a:pt x="826871" y="834626"/>
                    <a:pt x="805062" y="834626"/>
                  </a:cubicBezTo>
                  <a:lnTo>
                    <a:pt x="82233" y="834626"/>
                  </a:lnTo>
                  <a:cubicBezTo>
                    <a:pt x="60424" y="834626"/>
                    <a:pt x="39507" y="825962"/>
                    <a:pt x="24086" y="810540"/>
                  </a:cubicBezTo>
                  <a:cubicBezTo>
                    <a:pt x="8664" y="795119"/>
                    <a:pt x="0" y="774202"/>
                    <a:pt x="0" y="752393"/>
                  </a:cubicBezTo>
                  <a:lnTo>
                    <a:pt x="0" y="82233"/>
                  </a:lnTo>
                  <a:cubicBezTo>
                    <a:pt x="0" y="60424"/>
                    <a:pt x="8664" y="39507"/>
                    <a:pt x="24086" y="24086"/>
                  </a:cubicBezTo>
                  <a:cubicBezTo>
                    <a:pt x="39507" y="8664"/>
                    <a:pt x="60424" y="0"/>
                    <a:pt x="82233" y="0"/>
                  </a:cubicBezTo>
                  <a:close/>
                </a:path>
              </a:pathLst>
            </a:custGeom>
            <a:blipFill>
              <a:blip r:embed="rId2"/>
              <a:stretch>
                <a:fillRect l="-7415" t="-6947" r="-6739" b="0"/>
              </a:stretch>
            </a:blipFill>
          </p:spPr>
        </p:sp>
      </p:grpSp>
      <p:grpSp>
        <p:nvGrpSpPr>
          <p:cNvPr name="Group 7" id="7"/>
          <p:cNvGrpSpPr/>
          <p:nvPr/>
        </p:nvGrpSpPr>
        <p:grpSpPr>
          <a:xfrm rot="0">
            <a:off x="1313657" y="2207277"/>
            <a:ext cx="295794" cy="1147761"/>
            <a:chOff x="0" y="0"/>
            <a:chExt cx="62581" cy="242832"/>
          </a:xfrm>
        </p:grpSpPr>
        <p:sp>
          <p:nvSpPr>
            <p:cNvPr name="Freeform 8" id="8"/>
            <p:cNvSpPr/>
            <p:nvPr/>
          </p:nvSpPr>
          <p:spPr>
            <a:xfrm flipH="false" flipV="false" rot="0">
              <a:off x="0" y="0"/>
              <a:ext cx="62581" cy="242832"/>
            </a:xfrm>
            <a:custGeom>
              <a:avLst/>
              <a:gdLst/>
              <a:ahLst/>
              <a:cxnLst/>
              <a:rect r="r" b="b" t="t" l="l"/>
              <a:pathLst>
                <a:path h="242832" w="62581">
                  <a:moveTo>
                    <a:pt x="31291" y="0"/>
                  </a:moveTo>
                  <a:lnTo>
                    <a:pt x="31291" y="0"/>
                  </a:lnTo>
                  <a:cubicBezTo>
                    <a:pt x="39589" y="0"/>
                    <a:pt x="47548" y="3297"/>
                    <a:pt x="53416" y="9165"/>
                  </a:cubicBezTo>
                  <a:cubicBezTo>
                    <a:pt x="59285" y="15033"/>
                    <a:pt x="62581" y="22992"/>
                    <a:pt x="62581" y="31291"/>
                  </a:cubicBezTo>
                  <a:lnTo>
                    <a:pt x="62581" y="211542"/>
                  </a:lnTo>
                  <a:cubicBezTo>
                    <a:pt x="62581" y="228823"/>
                    <a:pt x="48572" y="242832"/>
                    <a:pt x="31291" y="242832"/>
                  </a:cubicBezTo>
                  <a:lnTo>
                    <a:pt x="31291" y="242832"/>
                  </a:lnTo>
                  <a:cubicBezTo>
                    <a:pt x="14009" y="242832"/>
                    <a:pt x="0" y="228823"/>
                    <a:pt x="0" y="211542"/>
                  </a:cubicBezTo>
                  <a:lnTo>
                    <a:pt x="0" y="31291"/>
                  </a:lnTo>
                  <a:cubicBezTo>
                    <a:pt x="0" y="14009"/>
                    <a:pt x="14009" y="0"/>
                    <a:pt x="31291" y="0"/>
                  </a:cubicBezTo>
                  <a:close/>
                </a:path>
              </a:pathLst>
            </a:custGeom>
            <a:gradFill rotWithShape="true">
              <a:gsLst>
                <a:gs pos="0">
                  <a:srgbClr val="0589C2">
                    <a:alpha val="100000"/>
                  </a:srgbClr>
                </a:gs>
                <a:gs pos="50000">
                  <a:srgbClr val="3ABDD4">
                    <a:alpha val="100000"/>
                  </a:srgbClr>
                </a:gs>
                <a:gs pos="100000">
                  <a:srgbClr val="93EFFF">
                    <a:alpha val="100000"/>
                  </a:srgbClr>
                </a:gs>
              </a:gsLst>
              <a:path path="circle">
                <a:fillToRect l="0" r="100000" t="0" b="100000"/>
              </a:path>
              <a:tileRect r="0" l="-100000" b="0" t="-100000"/>
            </a:gradFill>
          </p:spPr>
        </p:sp>
        <p:sp>
          <p:nvSpPr>
            <p:cNvPr name="TextBox 9" id="9"/>
            <p:cNvSpPr txBox="true"/>
            <p:nvPr/>
          </p:nvSpPr>
          <p:spPr>
            <a:xfrm>
              <a:off x="0" y="-38100"/>
              <a:ext cx="62581" cy="280932"/>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1881585" y="2017590"/>
            <a:ext cx="7661035" cy="2267488"/>
          </a:xfrm>
          <a:prstGeom prst="rect">
            <a:avLst/>
          </a:prstGeom>
        </p:spPr>
        <p:txBody>
          <a:bodyPr anchor="t" rtlCol="false" tIns="0" lIns="0" bIns="0" rIns="0">
            <a:spAutoFit/>
          </a:bodyPr>
          <a:lstStyle/>
          <a:p>
            <a:pPr algn="l">
              <a:lnSpc>
                <a:spcPts val="8547"/>
              </a:lnSpc>
            </a:pPr>
            <a:r>
              <a:rPr lang="en-US" sz="8063" b="true">
                <a:solidFill>
                  <a:srgbClr val="0C8EB6"/>
                </a:solidFill>
                <a:latin typeface="Poppins Bold"/>
                <a:ea typeface="Poppins Bold"/>
                <a:cs typeface="Poppins Bold"/>
                <a:sym typeface="Poppins Bold"/>
              </a:rPr>
              <a:t>TRANG ĐĂNG NHẬP</a:t>
            </a:r>
          </a:p>
        </p:txBody>
      </p:sp>
      <p:sp>
        <p:nvSpPr>
          <p:cNvPr name="TextBox 12" id="12"/>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376636" y="705229"/>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216014" y="175456"/>
            <a:ext cx="14071986" cy="10111544"/>
            <a:chOff x="0" y="0"/>
            <a:chExt cx="1252129" cy="899728"/>
          </a:xfrm>
        </p:grpSpPr>
        <p:sp>
          <p:nvSpPr>
            <p:cNvPr name="Freeform 4" id="4"/>
            <p:cNvSpPr/>
            <p:nvPr/>
          </p:nvSpPr>
          <p:spPr>
            <a:xfrm flipH="false" flipV="false" rot="0">
              <a:off x="0" y="0"/>
              <a:ext cx="1252129" cy="899728"/>
            </a:xfrm>
            <a:custGeom>
              <a:avLst/>
              <a:gdLst/>
              <a:ahLst/>
              <a:cxnLst/>
              <a:rect r="r" b="b" t="t" l="l"/>
              <a:pathLst>
                <a:path h="899728" w="1252129">
                  <a:moveTo>
                    <a:pt x="43463" y="0"/>
                  </a:moveTo>
                  <a:lnTo>
                    <a:pt x="1208666" y="0"/>
                  </a:lnTo>
                  <a:cubicBezTo>
                    <a:pt x="1220193" y="0"/>
                    <a:pt x="1231248" y="4579"/>
                    <a:pt x="1239399" y="12730"/>
                  </a:cubicBezTo>
                  <a:cubicBezTo>
                    <a:pt x="1247550" y="20881"/>
                    <a:pt x="1252129" y="31936"/>
                    <a:pt x="1252129" y="43463"/>
                  </a:cubicBezTo>
                  <a:lnTo>
                    <a:pt x="1252129" y="856265"/>
                  </a:lnTo>
                  <a:cubicBezTo>
                    <a:pt x="1252129" y="867792"/>
                    <a:pt x="1247550" y="878847"/>
                    <a:pt x="1239399" y="886998"/>
                  </a:cubicBezTo>
                  <a:cubicBezTo>
                    <a:pt x="1231248" y="895149"/>
                    <a:pt x="1220193" y="899728"/>
                    <a:pt x="1208666" y="899728"/>
                  </a:cubicBezTo>
                  <a:lnTo>
                    <a:pt x="43463" y="899728"/>
                  </a:lnTo>
                  <a:cubicBezTo>
                    <a:pt x="31936" y="899728"/>
                    <a:pt x="20881" y="895149"/>
                    <a:pt x="12730" y="886998"/>
                  </a:cubicBezTo>
                  <a:cubicBezTo>
                    <a:pt x="4579" y="878847"/>
                    <a:pt x="0" y="867792"/>
                    <a:pt x="0" y="856265"/>
                  </a:cubicBezTo>
                  <a:lnTo>
                    <a:pt x="0" y="43463"/>
                  </a:lnTo>
                  <a:cubicBezTo>
                    <a:pt x="0" y="31936"/>
                    <a:pt x="4579" y="20881"/>
                    <a:pt x="12730" y="12730"/>
                  </a:cubicBezTo>
                  <a:cubicBezTo>
                    <a:pt x="20881" y="4579"/>
                    <a:pt x="31936" y="0"/>
                    <a:pt x="43463" y="0"/>
                  </a:cubicBezTo>
                  <a:close/>
                </a:path>
              </a:pathLst>
            </a:custGeom>
            <a:blipFill>
              <a:blip r:embed="rId4"/>
              <a:stretch>
                <a:fillRect l="0" t="-2796" r="0" b="-2796"/>
              </a:stretch>
            </a:blipFill>
          </p:spPr>
        </p:sp>
      </p:grpSp>
      <p:sp>
        <p:nvSpPr>
          <p:cNvPr name="TextBox 5" id="5"/>
          <p:cNvSpPr txBox="true"/>
          <p:nvPr/>
        </p:nvSpPr>
        <p:spPr>
          <a:xfrm rot="0">
            <a:off x="1028700" y="778501"/>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1528" y="1644571"/>
            <a:ext cx="17103346" cy="9043394"/>
          </a:xfrm>
          <a:custGeom>
            <a:avLst/>
            <a:gdLst/>
            <a:ahLst/>
            <a:cxnLst/>
            <a:rect r="r" b="b" t="t" l="l"/>
            <a:pathLst>
              <a:path h="9043394" w="17103346">
                <a:moveTo>
                  <a:pt x="0" y="0"/>
                </a:moveTo>
                <a:lnTo>
                  <a:pt x="17103346" y="0"/>
                </a:lnTo>
                <a:lnTo>
                  <a:pt x="17103346" y="9043394"/>
                </a:lnTo>
                <a:lnTo>
                  <a:pt x="0" y="9043394"/>
                </a:lnTo>
                <a:lnTo>
                  <a:pt x="0" y="0"/>
                </a:lnTo>
                <a:close/>
              </a:path>
            </a:pathLst>
          </a:custGeom>
          <a:blipFill>
            <a:blip r:embed="rId4"/>
            <a:stretch>
              <a:fillRect l="0" t="0" r="0" b="0"/>
            </a:stretch>
          </a:blipFill>
        </p:spPr>
      </p:sp>
      <p:sp>
        <p:nvSpPr>
          <p:cNvPr name="TextBox 4" id="4"/>
          <p:cNvSpPr txBox="true"/>
          <p:nvPr/>
        </p:nvSpPr>
        <p:spPr>
          <a:xfrm rot="0">
            <a:off x="4596778" y="411571"/>
            <a:ext cx="12662522" cy="1137372"/>
          </a:xfrm>
          <a:prstGeom prst="rect">
            <a:avLst/>
          </a:prstGeom>
        </p:spPr>
        <p:txBody>
          <a:bodyPr anchor="t" rtlCol="false" tIns="0" lIns="0" bIns="0" rIns="0">
            <a:spAutoFit/>
          </a:bodyPr>
          <a:lstStyle/>
          <a:p>
            <a:pPr algn="l">
              <a:lnSpc>
                <a:spcPts val="8185"/>
              </a:lnSpc>
            </a:pPr>
            <a:r>
              <a:rPr lang="en-US" sz="7721" b="true">
                <a:solidFill>
                  <a:srgbClr val="0C8EB6"/>
                </a:solidFill>
                <a:latin typeface="Poppins Bold"/>
                <a:ea typeface="Poppins Bold"/>
                <a:cs typeface="Poppins Bold"/>
                <a:sym typeface="Poppins Bold"/>
              </a:rPr>
              <a:t>QUẢN LÝ NHÂN VIÊN</a:t>
            </a:r>
          </a:p>
        </p:txBody>
      </p:sp>
      <p:sp>
        <p:nvSpPr>
          <p:cNvPr name="TextBox 5" id="5"/>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18899" y="1548943"/>
            <a:ext cx="16164173" cy="8405370"/>
          </a:xfrm>
          <a:custGeom>
            <a:avLst/>
            <a:gdLst/>
            <a:ahLst/>
            <a:cxnLst/>
            <a:rect r="r" b="b" t="t" l="l"/>
            <a:pathLst>
              <a:path h="8405370" w="16164173">
                <a:moveTo>
                  <a:pt x="0" y="0"/>
                </a:moveTo>
                <a:lnTo>
                  <a:pt x="16164174" y="0"/>
                </a:lnTo>
                <a:lnTo>
                  <a:pt x="16164174" y="8405371"/>
                </a:lnTo>
                <a:lnTo>
                  <a:pt x="0" y="8405371"/>
                </a:lnTo>
                <a:lnTo>
                  <a:pt x="0" y="0"/>
                </a:lnTo>
                <a:close/>
              </a:path>
            </a:pathLst>
          </a:custGeom>
          <a:blipFill>
            <a:blip r:embed="rId4"/>
            <a:stretch>
              <a:fillRect l="0" t="0" r="0" b="0"/>
            </a:stretch>
          </a:blipFill>
        </p:spPr>
      </p:sp>
      <p:sp>
        <p:nvSpPr>
          <p:cNvPr name="TextBox 4" id="4"/>
          <p:cNvSpPr txBox="true"/>
          <p:nvPr/>
        </p:nvSpPr>
        <p:spPr>
          <a:xfrm rot="0">
            <a:off x="6876631" y="411571"/>
            <a:ext cx="12662522" cy="1137372"/>
          </a:xfrm>
          <a:prstGeom prst="rect">
            <a:avLst/>
          </a:prstGeom>
        </p:spPr>
        <p:txBody>
          <a:bodyPr anchor="t" rtlCol="false" tIns="0" lIns="0" bIns="0" rIns="0">
            <a:spAutoFit/>
          </a:bodyPr>
          <a:lstStyle/>
          <a:p>
            <a:pPr algn="l">
              <a:lnSpc>
                <a:spcPts val="8185"/>
              </a:lnSpc>
            </a:pPr>
            <a:r>
              <a:rPr lang="en-US" sz="7721" b="true">
                <a:solidFill>
                  <a:srgbClr val="0C8EB6"/>
                </a:solidFill>
                <a:latin typeface="Poppins Bold"/>
                <a:ea typeface="Poppins Bold"/>
                <a:cs typeface="Poppins Bold"/>
                <a:sym typeface="Poppins Bold"/>
              </a:rPr>
              <a:t>HỢP ĐỒNG</a:t>
            </a:r>
          </a:p>
        </p:txBody>
      </p:sp>
      <p:sp>
        <p:nvSpPr>
          <p:cNvPr name="TextBox 5" id="5"/>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55808" y="1548943"/>
            <a:ext cx="17376384" cy="8992279"/>
          </a:xfrm>
          <a:custGeom>
            <a:avLst/>
            <a:gdLst/>
            <a:ahLst/>
            <a:cxnLst/>
            <a:rect r="r" b="b" t="t" l="l"/>
            <a:pathLst>
              <a:path h="8992279" w="17376384">
                <a:moveTo>
                  <a:pt x="0" y="0"/>
                </a:moveTo>
                <a:lnTo>
                  <a:pt x="17376384" y="0"/>
                </a:lnTo>
                <a:lnTo>
                  <a:pt x="17376384" y="8992279"/>
                </a:lnTo>
                <a:lnTo>
                  <a:pt x="0" y="8992279"/>
                </a:lnTo>
                <a:lnTo>
                  <a:pt x="0" y="0"/>
                </a:lnTo>
                <a:close/>
              </a:path>
            </a:pathLst>
          </a:custGeom>
          <a:blipFill>
            <a:blip r:embed="rId4"/>
            <a:stretch>
              <a:fillRect l="0" t="0" r="0" b="0"/>
            </a:stretch>
          </a:blipFill>
        </p:spPr>
      </p:sp>
      <p:sp>
        <p:nvSpPr>
          <p:cNvPr name="TextBox 4" id="4"/>
          <p:cNvSpPr txBox="true"/>
          <p:nvPr/>
        </p:nvSpPr>
        <p:spPr>
          <a:xfrm rot="0">
            <a:off x="7154662" y="228047"/>
            <a:ext cx="6490236" cy="1137372"/>
          </a:xfrm>
          <a:prstGeom prst="rect">
            <a:avLst/>
          </a:prstGeom>
        </p:spPr>
        <p:txBody>
          <a:bodyPr anchor="t" rtlCol="false" tIns="0" lIns="0" bIns="0" rIns="0">
            <a:spAutoFit/>
          </a:bodyPr>
          <a:lstStyle/>
          <a:p>
            <a:pPr algn="l">
              <a:lnSpc>
                <a:spcPts val="8185"/>
              </a:lnSpc>
            </a:pPr>
            <a:r>
              <a:rPr lang="en-US" sz="7721" b="true">
                <a:solidFill>
                  <a:srgbClr val="0C8EB6"/>
                </a:solidFill>
                <a:latin typeface="Poppins Bold"/>
                <a:ea typeface="Poppins Bold"/>
                <a:cs typeface="Poppins Bold"/>
                <a:sym typeface="Poppins Bold"/>
              </a:rPr>
              <a:t>TÀI LIỆU</a:t>
            </a:r>
          </a:p>
        </p:txBody>
      </p:sp>
      <p:sp>
        <p:nvSpPr>
          <p:cNvPr name="TextBox 5" id="5"/>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2082942"/>
            <a:ext cx="15930210" cy="8204058"/>
          </a:xfrm>
          <a:custGeom>
            <a:avLst/>
            <a:gdLst/>
            <a:ahLst/>
            <a:cxnLst/>
            <a:rect r="r" b="b" t="t" l="l"/>
            <a:pathLst>
              <a:path h="8204058" w="15930210">
                <a:moveTo>
                  <a:pt x="0" y="0"/>
                </a:moveTo>
                <a:lnTo>
                  <a:pt x="15930210" y="0"/>
                </a:lnTo>
                <a:lnTo>
                  <a:pt x="15930210" y="8204058"/>
                </a:lnTo>
                <a:lnTo>
                  <a:pt x="0" y="8204058"/>
                </a:lnTo>
                <a:lnTo>
                  <a:pt x="0" y="0"/>
                </a:lnTo>
                <a:close/>
              </a:path>
            </a:pathLst>
          </a:custGeom>
          <a:blipFill>
            <a:blip r:embed="rId4"/>
            <a:stretch>
              <a:fillRect l="0" t="0" r="0" b="0"/>
            </a:stretch>
          </a:blipFill>
        </p:spPr>
      </p:sp>
      <p:sp>
        <p:nvSpPr>
          <p:cNvPr name="TextBox 4" id="4"/>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
        <p:nvSpPr>
          <p:cNvPr name="TextBox 5" id="5"/>
          <p:cNvSpPr txBox="true"/>
          <p:nvPr/>
        </p:nvSpPr>
        <p:spPr>
          <a:xfrm rot="0">
            <a:off x="7242814" y="1076226"/>
            <a:ext cx="4469646" cy="1084715"/>
          </a:xfrm>
          <a:prstGeom prst="rect">
            <a:avLst/>
          </a:prstGeom>
        </p:spPr>
        <p:txBody>
          <a:bodyPr anchor="t" rtlCol="false" tIns="0" lIns="0" bIns="0" rIns="0">
            <a:spAutoFit/>
          </a:bodyPr>
          <a:lstStyle/>
          <a:p>
            <a:pPr algn="ctr" marL="0" indent="0" lvl="0">
              <a:lnSpc>
                <a:spcPts val="8461"/>
              </a:lnSpc>
              <a:spcBef>
                <a:spcPct val="0"/>
              </a:spcBef>
            </a:pPr>
            <a:r>
              <a:rPr lang="en-US" b="true" sz="6043">
                <a:solidFill>
                  <a:srgbClr val="0C8EB6"/>
                </a:solidFill>
                <a:latin typeface="Poppins Bold"/>
                <a:ea typeface="Poppins Bold"/>
                <a:cs typeface="Poppins Bold"/>
                <a:sym typeface="Poppins Bold"/>
              </a:rPr>
              <a:t>TỔ CHỨC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75036" y="1548943"/>
            <a:ext cx="16737929" cy="8452654"/>
          </a:xfrm>
          <a:custGeom>
            <a:avLst/>
            <a:gdLst/>
            <a:ahLst/>
            <a:cxnLst/>
            <a:rect r="r" b="b" t="t" l="l"/>
            <a:pathLst>
              <a:path h="8452654" w="16737929">
                <a:moveTo>
                  <a:pt x="0" y="0"/>
                </a:moveTo>
                <a:lnTo>
                  <a:pt x="16737928" y="0"/>
                </a:lnTo>
                <a:lnTo>
                  <a:pt x="16737928" y="8452654"/>
                </a:lnTo>
                <a:lnTo>
                  <a:pt x="0" y="8452654"/>
                </a:lnTo>
                <a:lnTo>
                  <a:pt x="0" y="0"/>
                </a:lnTo>
                <a:close/>
              </a:path>
            </a:pathLst>
          </a:custGeom>
          <a:blipFill>
            <a:blip r:embed="rId4"/>
            <a:stretch>
              <a:fillRect l="0" t="0" r="0" b="0"/>
            </a:stretch>
          </a:blipFill>
        </p:spPr>
      </p:sp>
      <p:sp>
        <p:nvSpPr>
          <p:cNvPr name="TextBox 4" id="4"/>
          <p:cNvSpPr txBox="true"/>
          <p:nvPr/>
        </p:nvSpPr>
        <p:spPr>
          <a:xfrm rot="0">
            <a:off x="4596778" y="411571"/>
            <a:ext cx="12662522" cy="1137372"/>
          </a:xfrm>
          <a:prstGeom prst="rect">
            <a:avLst/>
          </a:prstGeom>
        </p:spPr>
        <p:txBody>
          <a:bodyPr anchor="t" rtlCol="false" tIns="0" lIns="0" bIns="0" rIns="0">
            <a:spAutoFit/>
          </a:bodyPr>
          <a:lstStyle/>
          <a:p>
            <a:pPr algn="l">
              <a:lnSpc>
                <a:spcPts val="8185"/>
              </a:lnSpc>
            </a:pPr>
            <a:r>
              <a:rPr lang="en-US" sz="7721" b="true">
                <a:solidFill>
                  <a:srgbClr val="0C8EB6"/>
                </a:solidFill>
                <a:latin typeface="Poppins Bold"/>
                <a:ea typeface="Poppins Bold"/>
                <a:cs typeface="Poppins Bold"/>
                <a:sym typeface="Poppins Bold"/>
              </a:rPr>
              <a:t>QUẢN LÝ TÀI KHOẢN</a:t>
            </a:r>
          </a:p>
        </p:txBody>
      </p:sp>
      <p:sp>
        <p:nvSpPr>
          <p:cNvPr name="TextBox 5" id="5"/>
          <p:cNvSpPr txBox="true"/>
          <p:nvPr/>
        </p:nvSpPr>
        <p:spPr>
          <a:xfrm rot="0">
            <a:off x="1687743" y="711008"/>
            <a:ext cx="3366162" cy="433724"/>
          </a:xfrm>
          <a:prstGeom prst="rect">
            <a:avLst/>
          </a:prstGeom>
        </p:spPr>
        <p:txBody>
          <a:bodyPr anchor="t" rtlCol="false" tIns="0" lIns="0" bIns="0" rIns="0">
            <a:spAutoFit/>
          </a:bodyPr>
          <a:lstStyle/>
          <a:p>
            <a:pPr algn="l">
              <a:lnSpc>
                <a:spcPts val="3393"/>
              </a:lnSpc>
            </a:pPr>
            <a:r>
              <a:rPr lang="en-US" sz="2424" b="true">
                <a:solidFill>
                  <a:srgbClr val="0C8EB6"/>
                </a:solidFill>
                <a:latin typeface="Poppins Bold"/>
                <a:ea typeface="Poppins Bold"/>
                <a:cs typeface="Poppins Bold"/>
                <a:sym typeface="Poppins Bold"/>
              </a:rPr>
              <a:t>KnurtD’s system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589C2">
                <a:alpha val="100000"/>
              </a:srgbClr>
            </a:gs>
            <a:gs pos="50000">
              <a:srgbClr val="3ABDD4">
                <a:alpha val="100000"/>
              </a:srgbClr>
            </a:gs>
            <a:gs pos="100000">
              <a:srgbClr val="93EFFF">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403078">
            <a:off x="1047014" y="706285"/>
            <a:ext cx="533287" cy="511956"/>
          </a:xfrm>
          <a:custGeom>
            <a:avLst/>
            <a:gdLst/>
            <a:ahLst/>
            <a:cxnLst/>
            <a:rect r="r" b="b" t="t" l="l"/>
            <a:pathLst>
              <a:path h="511956" w="533287">
                <a:moveTo>
                  <a:pt x="0" y="0"/>
                </a:moveTo>
                <a:lnTo>
                  <a:pt x="533287" y="0"/>
                </a:lnTo>
                <a:lnTo>
                  <a:pt x="533287" y="511956"/>
                </a:lnTo>
                <a:lnTo>
                  <a:pt x="0" y="5119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0" y="3834484"/>
            <a:ext cx="18288000" cy="2894257"/>
          </a:xfrm>
          <a:prstGeom prst="rect">
            <a:avLst/>
          </a:prstGeom>
        </p:spPr>
        <p:txBody>
          <a:bodyPr anchor="t" rtlCol="false" tIns="0" lIns="0" bIns="0" rIns="0">
            <a:spAutoFit/>
          </a:bodyPr>
          <a:lstStyle/>
          <a:p>
            <a:pPr algn="ctr">
              <a:lnSpc>
                <a:spcPts val="10462"/>
              </a:lnSpc>
            </a:pPr>
            <a:r>
              <a:rPr lang="en-US" sz="12166" b="true">
                <a:solidFill>
                  <a:srgbClr val="FFFFFF"/>
                </a:solidFill>
                <a:latin typeface="Poppins Bold"/>
                <a:ea typeface="Poppins Bold"/>
                <a:cs typeface="Poppins Bold"/>
                <a:sym typeface="Poppins Bold"/>
              </a:rPr>
              <a:t>THANKS FOR WATCHING</a:t>
            </a:r>
          </a:p>
        </p:txBody>
      </p:sp>
      <p:sp>
        <p:nvSpPr>
          <p:cNvPr name="TextBox 4" id="4"/>
          <p:cNvSpPr txBox="true"/>
          <p:nvPr/>
        </p:nvSpPr>
        <p:spPr>
          <a:xfrm rot="0">
            <a:off x="1687743" y="711008"/>
            <a:ext cx="3366162" cy="862349"/>
          </a:xfrm>
          <a:prstGeom prst="rect">
            <a:avLst/>
          </a:prstGeom>
        </p:spPr>
        <p:txBody>
          <a:bodyPr anchor="t" rtlCol="false" tIns="0" lIns="0" bIns="0" rIns="0">
            <a:spAutoFit/>
          </a:bodyPr>
          <a:lstStyle/>
          <a:p>
            <a:pPr algn="l">
              <a:lnSpc>
                <a:spcPts val="3393"/>
              </a:lnSpc>
            </a:pPr>
            <a:r>
              <a:rPr lang="en-US" sz="2424" b="true">
                <a:solidFill>
                  <a:srgbClr val="FFFFFF"/>
                </a:solidFill>
                <a:latin typeface="Poppins Bold"/>
                <a:ea typeface="Poppins Bold"/>
                <a:cs typeface="Poppins Bold"/>
                <a:sym typeface="Poppins Bold"/>
              </a:rPr>
              <a:t>KnurtD’s system</a:t>
            </a:r>
          </a:p>
          <a:p>
            <a:pPr algn="l">
              <a:lnSpc>
                <a:spcPts val="3393"/>
              </a:lnSpc>
            </a:pPr>
          </a:p>
        </p:txBody>
      </p:sp>
      <p:sp>
        <p:nvSpPr>
          <p:cNvPr name="TextBox 5" id="5"/>
          <p:cNvSpPr txBox="true"/>
          <p:nvPr/>
        </p:nvSpPr>
        <p:spPr>
          <a:xfrm rot="0">
            <a:off x="6874453" y="824766"/>
            <a:ext cx="1750921"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0C8EB6"/>
                </a:solidFill>
                <a:latin typeface="Poppins Bold"/>
                <a:ea typeface="Poppins Bold"/>
                <a:cs typeface="Poppins Bold"/>
                <a:sym typeface="Poppins Bold"/>
              </a:rPr>
              <a:t>DASHBOARD</a:t>
            </a:r>
          </a:p>
        </p:txBody>
      </p:sp>
      <p:sp>
        <p:nvSpPr>
          <p:cNvPr name="TextBox 6" id="6"/>
          <p:cNvSpPr txBox="true"/>
          <p:nvPr/>
        </p:nvSpPr>
        <p:spPr>
          <a:xfrm rot="0">
            <a:off x="9328935" y="828704"/>
            <a:ext cx="1512319"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FFFFFF"/>
                </a:solidFill>
                <a:latin typeface="Poppins Bold"/>
                <a:ea typeface="Poppins Bold"/>
                <a:cs typeface="Poppins Bold"/>
                <a:sym typeface="Poppins Bold"/>
              </a:rPr>
              <a:t>NHÂN VIÊN</a:t>
            </a:r>
          </a:p>
        </p:txBody>
      </p:sp>
      <p:sp>
        <p:nvSpPr>
          <p:cNvPr name="TextBox 7" id="7"/>
          <p:cNvSpPr txBox="true"/>
          <p:nvPr/>
        </p:nvSpPr>
        <p:spPr>
          <a:xfrm rot="0">
            <a:off x="11296318" y="828704"/>
            <a:ext cx="1442767" cy="350719"/>
          </a:xfrm>
          <a:prstGeom prst="rect">
            <a:avLst/>
          </a:prstGeom>
        </p:spPr>
        <p:txBody>
          <a:bodyPr anchor="t" rtlCol="false" tIns="0" lIns="0" bIns="0" rIns="0">
            <a:spAutoFit/>
          </a:bodyPr>
          <a:lstStyle/>
          <a:p>
            <a:pPr algn="ctr" marL="0" indent="0" lvl="0">
              <a:lnSpc>
                <a:spcPts val="2721"/>
              </a:lnSpc>
              <a:spcBef>
                <a:spcPct val="0"/>
              </a:spcBef>
            </a:pPr>
            <a:r>
              <a:rPr lang="en-US" b="true" sz="1943">
                <a:solidFill>
                  <a:srgbClr val="FFFFFF"/>
                </a:solidFill>
                <a:latin typeface="Poppins Bold"/>
                <a:ea typeface="Poppins Bold"/>
                <a:cs typeface="Poppins Bold"/>
                <a:sym typeface="Poppins Bold"/>
              </a:rPr>
              <a:t>TỔ CHỨC</a:t>
            </a:r>
          </a:p>
        </p:txBody>
      </p:sp>
      <p:sp>
        <p:nvSpPr>
          <p:cNvPr name="TextBox 8" id="8"/>
          <p:cNvSpPr txBox="true"/>
          <p:nvPr/>
        </p:nvSpPr>
        <p:spPr>
          <a:xfrm rot="0">
            <a:off x="12915247" y="828704"/>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HỢP ĐỒNG</a:t>
            </a:r>
          </a:p>
        </p:txBody>
      </p:sp>
      <p:sp>
        <p:nvSpPr>
          <p:cNvPr name="TextBox 9" id="9"/>
          <p:cNvSpPr txBox="true"/>
          <p:nvPr/>
        </p:nvSpPr>
        <p:spPr>
          <a:xfrm rot="0">
            <a:off x="14406223" y="824766"/>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TÀI LIỆU</a:t>
            </a:r>
          </a:p>
        </p:txBody>
      </p:sp>
      <p:sp>
        <p:nvSpPr>
          <p:cNvPr name="TextBox 10" id="10"/>
          <p:cNvSpPr txBox="true"/>
          <p:nvPr/>
        </p:nvSpPr>
        <p:spPr>
          <a:xfrm rot="0">
            <a:off x="16170631" y="824766"/>
            <a:ext cx="1764408" cy="350719"/>
          </a:xfrm>
          <a:prstGeom prst="rect">
            <a:avLst/>
          </a:prstGeom>
        </p:spPr>
        <p:txBody>
          <a:bodyPr anchor="t" rtlCol="false" tIns="0" lIns="0" bIns="0" rIns="0">
            <a:spAutoFit/>
          </a:bodyPr>
          <a:lstStyle/>
          <a:p>
            <a:pPr algn="r" marL="0" indent="0" lvl="0">
              <a:lnSpc>
                <a:spcPts val="2721"/>
              </a:lnSpc>
              <a:spcBef>
                <a:spcPct val="0"/>
              </a:spcBef>
            </a:pPr>
            <a:r>
              <a:rPr lang="en-US" b="true" sz="1943">
                <a:solidFill>
                  <a:srgbClr val="FFFFFF"/>
                </a:solidFill>
                <a:latin typeface="Poppins Bold"/>
                <a:ea typeface="Poppins Bold"/>
                <a:cs typeface="Poppins Bold"/>
                <a:sym typeface="Poppins Bold"/>
              </a:rPr>
              <a:t>QUẢN LÝ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DAGv2JcSHho</dc:identifier>
  <dcterms:modified xsi:type="dcterms:W3CDTF">2011-08-01T06:04:30Z</dcterms:modified>
  <cp:revision>1</cp:revision>
  <dc:title>Green and White Modern Human Resources Management Presentation</dc:title>
</cp:coreProperties>
</file>